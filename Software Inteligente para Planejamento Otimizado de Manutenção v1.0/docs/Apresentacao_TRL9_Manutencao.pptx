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76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Software Inteligente para Planejamento de Manutenção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00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C8C8C8"/>
                </a:solidFill>
              </a:defRPr>
            </a:pPr>
            <a:r>
              <a:rPr dirty="0"/>
              <a:t>Roadmap para TRL9 - Sistema de </a:t>
            </a:r>
            <a:r>
              <a:rPr dirty="0" err="1"/>
              <a:t>Produção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t>Status Atual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1"/>
            </a:pPr>
            <a:r>
              <a:t>• Algoritmo Funcional: Cadeias de Markov + NSGA-II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1"/>
            </a:pPr>
            <a:r>
              <a:t>• Fórmulas KPI Validadas: Com 10+ referências científicas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1"/>
            </a:pPr>
            <a:r>
              <a:t>• Fronteira de Pareto: 162 soluções não-dominadas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/>
            </a:pPr>
            <a:r>
              <a:t>• TRL Atual: 5 (Protótipo de Pesquisa) - 20% completo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/>
            </a:pPr>
            <a:r>
              <a:t>• Testes Automatizados: 0% cobertura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/>
            </a:pPr>
            <a:r>
              <a:t>• Persistência de Dados: Não existe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/>
            </a:pPr>
            <a:r>
              <a:t>• API REST: Não existe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32F2F"/>
                </a:solidFill>
              </a:defRPr>
            </a:pPr>
            <a:r>
              <a:t>89 Problemas Identificados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800"/>
              </a:spcBef>
              <a:defRPr sz="1600" b="1"/>
            </a:pPr>
            <a:r>
              <a:t>CRÍTICOS (23) - Bloqueadores para Produção</a:t>
            </a:r>
          </a:p>
          <a:p>
            <a:pPr lvl="1">
              <a:defRPr sz="1400"/>
            </a:pPr>
            <a:r>
              <a:t>  • Sem type hints</a:t>
            </a:r>
          </a:p>
          <a:p>
            <a:pPr lvl="1">
              <a:defRPr sz="1400"/>
            </a:pPr>
            <a:r>
              <a:t>  • Sem validação de entrada</a:t>
            </a:r>
          </a:p>
          <a:p>
            <a:pPr lvl="1">
              <a:defRPr sz="1400"/>
            </a:pPr>
            <a:r>
              <a:t>  • Bare except clauses</a:t>
            </a:r>
          </a:p>
          <a:p>
            <a:pPr lvl="1">
              <a:defRPr sz="1400"/>
            </a:pPr>
            <a:r>
              <a:t>  • Sem logging estruturado</a:t>
            </a:r>
          </a:p>
          <a:p>
            <a:pPr>
              <a:spcBef>
                <a:spcPts val="800"/>
              </a:spcBef>
              <a:defRPr sz="1600" b="1"/>
            </a:pPr>
            <a:r>
              <a:t>ALTOS (41) - Qualidade e Segurança</a:t>
            </a:r>
          </a:p>
          <a:p>
            <a:pPr lvl="1">
              <a:defRPr sz="1400"/>
            </a:pPr>
            <a:r>
              <a:t>  • Zero cobertura de testes</a:t>
            </a:r>
          </a:p>
          <a:p>
            <a:pPr lvl="1">
              <a:defRPr sz="1400"/>
            </a:pPr>
            <a:r>
              <a:t>  • Sem API REST</a:t>
            </a:r>
          </a:p>
          <a:p>
            <a:pPr lvl="1">
              <a:defRPr sz="1400"/>
            </a:pPr>
            <a:r>
              <a:t>  • Sem autenticação</a:t>
            </a:r>
          </a:p>
          <a:p>
            <a:pPr lvl="1">
              <a:defRPr sz="1400"/>
            </a:pPr>
            <a:r>
              <a:t>  • Sem CI/CD pipeline</a:t>
            </a:r>
          </a:p>
          <a:p>
            <a:pPr>
              <a:spcBef>
                <a:spcPts val="800"/>
              </a:spcBef>
              <a:defRPr sz="1600" b="1"/>
            </a:pPr>
            <a:r>
              <a:t>MÉDIOS (25) - Otimizações</a:t>
            </a:r>
          </a:p>
          <a:p>
            <a:pPr lvl="1">
              <a:defRPr sz="1400"/>
            </a:pPr>
            <a:r>
              <a:t>  • Code duplication</a:t>
            </a:r>
          </a:p>
          <a:p>
            <a:pPr lvl="1">
              <a:defRPr sz="1400"/>
            </a:pPr>
            <a:r>
              <a:t>  • Performance bottlenecks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t>Roadmap: 6 Fases em 4-6 Semanas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600"/>
            </a:pPr>
            <a:r>
              <a:t>Semana 1 - FUNDACAO (40h): Estrutura, config, logging, type hints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/>
            </a:pPr>
            <a:r>
              <a:t>Semana 2-3 - TESTES + DB (70h): 80% cobertura, SQLite, backup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/>
            </a:pPr>
            <a:r>
              <a:t>Semana 3 - API REST (40h): FastAPI, endpoints, autenticação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/>
            </a:pPr>
            <a:r>
              <a:t>Semana 4 - DEPLOY (40h): Docker, CI/CD, Frontend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/>
            </a:pPr>
            <a:r>
              <a:t>Semana 5 - MONITORING (30h): Prometheus, Grafana, alertas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/>
            </a:pPr>
            <a:r>
              <a:t>Semana 6 - PRODUCAO (30h): Testes finais, SLA, deploy</a:t>
            </a:r>
          </a:p>
          <a:p>
            <a:pPr>
              <a:spcBef>
                <a:spcPts val="1200"/>
              </a:spcBef>
              <a:defRPr sz="1600" b="1"/>
            </a:pPr>
            <a:r>
              <a:t>TOTAL: 240-300 horas | Equipe: 2-3 devs | Timeline: 4-6 semanas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t>Equipe Recomendada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800"/>
              </a:spcBef>
              <a:defRPr sz="1800" b="1"/>
            </a:pPr>
            <a:r>
              <a:t>Backend Developer (1-2)</a:t>
            </a:r>
          </a:p>
          <a:p>
            <a:pPr lvl="1">
              <a:defRPr sz="1400"/>
            </a:pPr>
            <a:r>
              <a:t>  • API REST</a:t>
            </a:r>
          </a:p>
          <a:p>
            <a:pPr lvl="1">
              <a:defRPr sz="1400"/>
            </a:pPr>
            <a:r>
              <a:t>  • Banco de Dados</a:t>
            </a:r>
          </a:p>
          <a:p>
            <a:pPr lvl="1">
              <a:defRPr sz="1400"/>
            </a:pPr>
            <a:r>
              <a:t>  • Integração</a:t>
            </a:r>
          </a:p>
          <a:p>
            <a:pPr>
              <a:spcBef>
                <a:spcPts val="800"/>
              </a:spcBef>
              <a:defRPr sz="1800" b="1"/>
            </a:pPr>
            <a:r>
              <a:t>QA Engineer (1)</a:t>
            </a:r>
          </a:p>
          <a:p>
            <a:pPr lvl="1">
              <a:defRPr sz="1400"/>
            </a:pPr>
            <a:r>
              <a:t>  • Testes Automatizados</a:t>
            </a:r>
          </a:p>
          <a:p>
            <a:pPr lvl="1">
              <a:defRPr sz="1400"/>
            </a:pPr>
            <a:r>
              <a:t>  • Validação</a:t>
            </a:r>
          </a:p>
          <a:p>
            <a:pPr lvl="1">
              <a:defRPr sz="1400"/>
            </a:pPr>
            <a:r>
              <a:t>  • Qualidade</a:t>
            </a:r>
          </a:p>
          <a:p>
            <a:pPr>
              <a:spcBef>
                <a:spcPts val="800"/>
              </a:spcBef>
              <a:defRPr sz="1800" b="1"/>
            </a:pPr>
            <a:r>
              <a:t>DevOps Engineer (0.5)</a:t>
            </a:r>
          </a:p>
          <a:p>
            <a:pPr lvl="1">
              <a:defRPr sz="1400"/>
            </a:pPr>
            <a:r>
              <a:t>  • CI/CD Pipeline</a:t>
            </a:r>
          </a:p>
          <a:p>
            <a:pPr lvl="1">
              <a:defRPr sz="1400"/>
            </a:pPr>
            <a:r>
              <a:t>  • Containerização</a:t>
            </a:r>
          </a:p>
          <a:p>
            <a:pPr lvl="1">
              <a:defRPr sz="1400"/>
            </a:pPr>
            <a:r>
              <a:t>  • Monitoring</a:t>
            </a:r>
          </a:p>
          <a:p>
            <a:pPr>
              <a:spcBef>
                <a:spcPts val="800"/>
              </a:spcBef>
              <a:defRPr sz="1800" b="1"/>
            </a:pPr>
            <a:r>
              <a:t>Tech Lead (part-time)</a:t>
            </a:r>
          </a:p>
          <a:p>
            <a:pPr lvl="1">
              <a:defRPr sz="1400"/>
            </a:pPr>
            <a:r>
              <a:t>  • Arquitetura</a:t>
            </a:r>
          </a:p>
          <a:p>
            <a:pPr lvl="1">
              <a:defRPr sz="1400"/>
            </a:pPr>
            <a:r>
              <a:t>  • Code Reviews</a:t>
            </a:r>
          </a:p>
          <a:p>
            <a:pPr lvl="1">
              <a:defRPr sz="1400"/>
            </a:pPr>
            <a:r>
              <a:t>  • Decisões Técnicas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t>Métricas de Sucesso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600"/>
              </a:spcBef>
              <a:defRPr sz="1600" b="1"/>
            </a:pPr>
            <a:r>
              <a:t>Qualidade de Código</a:t>
            </a:r>
          </a:p>
          <a:p>
            <a:pPr lvl="1">
              <a:defRPr sz="1300"/>
            </a:pPr>
            <a:r>
              <a:t>  • Type hints: &gt;95%</a:t>
            </a:r>
          </a:p>
          <a:p>
            <a:pPr lvl="1">
              <a:defRPr sz="1300"/>
            </a:pPr>
            <a:r>
              <a:t>  • Unit tests: &gt;80%</a:t>
            </a:r>
          </a:p>
          <a:p>
            <a:pPr lvl="1">
              <a:defRPr sz="1300"/>
            </a:pPr>
            <a:r>
              <a:t>  • Code duplication: &lt;5%</a:t>
            </a:r>
          </a:p>
          <a:p>
            <a:pPr>
              <a:spcBef>
                <a:spcPts val="600"/>
              </a:spcBef>
              <a:defRPr sz="1600" b="1"/>
            </a:pPr>
            <a:r>
              <a:t>Funcionalidade</a:t>
            </a:r>
          </a:p>
          <a:p>
            <a:pPr lvl="1">
              <a:defRPr sz="1300"/>
            </a:pPr>
            <a:r>
              <a:t>  • 100% requisitos implementados</a:t>
            </a:r>
          </a:p>
          <a:p>
            <a:pPr lvl="1">
              <a:defRPr sz="1300"/>
            </a:pPr>
            <a:r>
              <a:t>  • 0 bugs críticos</a:t>
            </a:r>
          </a:p>
          <a:p>
            <a:pPr lvl="1">
              <a:defRPr sz="1300"/>
            </a:pPr>
            <a:r>
              <a:t>  • Pareto quality: &gt;95%</a:t>
            </a:r>
          </a:p>
          <a:p>
            <a:pPr>
              <a:spcBef>
                <a:spcPts val="600"/>
              </a:spcBef>
              <a:defRPr sz="1600" b="1"/>
            </a:pPr>
            <a:r>
              <a:t>Performance</a:t>
            </a:r>
          </a:p>
          <a:p>
            <a:pPr lvl="1">
              <a:defRPr sz="1300"/>
            </a:pPr>
            <a:r>
              <a:t>  • API response: &lt;500ms (p95)</a:t>
            </a:r>
          </a:p>
          <a:p>
            <a:pPr lvl="1">
              <a:defRPr sz="1300"/>
            </a:pPr>
            <a:r>
              <a:t>  • Memory usage: &lt;500MB</a:t>
            </a:r>
          </a:p>
          <a:p>
            <a:pPr lvl="1">
              <a:defRPr sz="1300"/>
            </a:pPr>
            <a:r>
              <a:t>  • DB queries: &lt;100ms (p95)</a:t>
            </a:r>
          </a:p>
          <a:p>
            <a:pPr>
              <a:spcBef>
                <a:spcPts val="600"/>
              </a:spcBef>
              <a:defRPr sz="1600" b="1"/>
            </a:pPr>
            <a:r>
              <a:t>Operacional</a:t>
            </a:r>
          </a:p>
          <a:p>
            <a:pPr lvl="1">
              <a:defRPr sz="1300"/>
            </a:pPr>
            <a:r>
              <a:t>  • Uptime: 99.9%</a:t>
            </a:r>
          </a:p>
          <a:p>
            <a:pPr lvl="1">
              <a:defRPr sz="1300"/>
            </a:pPr>
            <a:r>
              <a:t>  • MTTR: &lt;15 min</a:t>
            </a:r>
          </a:p>
          <a:p>
            <a:pPr lvl="1">
              <a:defRPr sz="1300"/>
            </a:pPr>
            <a:r>
              <a:t>  • MTBF: &gt;30 dias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32F2F"/>
                </a:solidFill>
              </a:defRPr>
            </a:pPr>
            <a:r>
              <a:t>Riscos &amp; Mitigação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800"/>
              </a:spcBef>
              <a:defRPr sz="1600" b="1"/>
            </a:pPr>
            <a:r>
              <a:t>Risco: Refatoração quebra funcionalidade</a:t>
            </a:r>
          </a:p>
          <a:p>
            <a:pPr lvl="1">
              <a:defRPr sz="1400"/>
            </a:pPr>
            <a:r>
              <a:t>Mitigation: Testes extensivos (80%+ cobertura)</a:t>
            </a:r>
          </a:p>
          <a:p>
            <a:pPr>
              <a:spcBef>
                <a:spcPts val="800"/>
              </a:spcBef>
              <a:defRPr sz="1600" b="1"/>
            </a:pPr>
            <a:r>
              <a:t>Risco: Performance inadequada</a:t>
            </a:r>
          </a:p>
          <a:p>
            <a:pPr lvl="1">
              <a:defRPr sz="1400"/>
            </a:pPr>
            <a:r>
              <a:t>Mitigation: Load testing, profiling, optimization</a:t>
            </a:r>
          </a:p>
          <a:p>
            <a:pPr>
              <a:spcBef>
                <a:spcPts val="800"/>
              </a:spcBef>
              <a:defRPr sz="1600" b="1"/>
            </a:pPr>
            <a:r>
              <a:t>Risco: DB migration perde dados</a:t>
            </a:r>
          </a:p>
          <a:p>
            <a:pPr lvl="1">
              <a:defRPr sz="1400"/>
            </a:pPr>
            <a:r>
              <a:t>Mitigation: Backup antes migração, teste restore</a:t>
            </a:r>
          </a:p>
          <a:p>
            <a:pPr>
              <a:spcBef>
                <a:spcPts val="800"/>
              </a:spcBef>
              <a:defRPr sz="1600" b="1"/>
            </a:pPr>
            <a:r>
              <a:t>Risco: Deadline apertado</a:t>
            </a:r>
          </a:p>
          <a:p>
            <a:pPr lvl="1">
              <a:defRPr sz="1400"/>
            </a:pPr>
            <a:r>
              <a:t>Mitigation: Priorizar MVP, diferir nice-to-haves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t>Próximos Passos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800"/>
              </a:spcBef>
              <a:defRPr sz="1600" b="1"/>
            </a:pPr>
            <a:r>
              <a:t>HOJE</a:t>
            </a:r>
          </a:p>
          <a:p>
            <a:pPr lvl="1">
              <a:defRPr sz="1300"/>
            </a:pPr>
            <a:r>
              <a:t>  • Revisar documentação</a:t>
            </a:r>
          </a:p>
          <a:p>
            <a:pPr lvl="1">
              <a:defRPr sz="1300"/>
            </a:pPr>
            <a:r>
              <a:t>  • Tomar decisão de prosseguimento</a:t>
            </a:r>
          </a:p>
          <a:p>
            <a:pPr lvl="1">
              <a:defRPr sz="1300"/>
            </a:pPr>
            <a:r>
              <a:t>  • Alocar recursos (2-3 desenvolvedores)</a:t>
            </a:r>
          </a:p>
          <a:p>
            <a:pPr>
              <a:spcBef>
                <a:spcPts val="800"/>
              </a:spcBef>
              <a:defRPr sz="1600" b="1"/>
            </a:pPr>
            <a:r>
              <a:t>SEMANA 1</a:t>
            </a:r>
          </a:p>
          <a:p>
            <a:pPr lvl="1">
              <a:defRPr sz="1300"/>
            </a:pPr>
            <a:r>
              <a:t>  • Inicializar repositório Git</a:t>
            </a:r>
          </a:p>
          <a:p>
            <a:pPr lvl="1">
              <a:defRPr sz="1300"/>
            </a:pPr>
            <a:r>
              <a:t>  • Estruturar projeto (src/, tests/, docs/)</a:t>
            </a:r>
          </a:p>
          <a:p>
            <a:pPr lvl="1">
              <a:defRPr sz="1300"/>
            </a:pPr>
            <a:r>
              <a:t>  • Implementar Fase 1 (Fundação)</a:t>
            </a:r>
          </a:p>
          <a:p>
            <a:pPr>
              <a:spcBef>
                <a:spcPts val="800"/>
              </a:spcBef>
              <a:defRPr sz="1600" b="1"/>
            </a:pPr>
            <a:r>
              <a:t>CHECKPOINT TRL6 (Semana 3)</a:t>
            </a:r>
          </a:p>
          <a:p>
            <a:pPr lvl="1">
              <a:defRPr sz="1300"/>
            </a:pPr>
            <a:r>
              <a:t>  • API REST funcional + 80% testes + BD persistente</a:t>
            </a:r>
          </a:p>
          <a:p>
            <a:pPr>
              <a:spcBef>
                <a:spcPts val="800"/>
              </a:spcBef>
              <a:defRPr sz="1600" b="1"/>
            </a:pPr>
            <a:r>
              <a:t>CHECKPOINT TRL9 (Semana 6)</a:t>
            </a:r>
          </a:p>
          <a:p>
            <a:pPr lvl="1">
              <a:defRPr sz="1300"/>
            </a:pPr>
            <a:r>
              <a:t>  • Sistema completo em produção com SLA compliance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8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PROSSEGUIR COM IMPLEMENTAÇÃO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C8C8C8"/>
                </a:solidFill>
              </a:defRPr>
            </a:pPr>
            <a:r>
              <a:t>Viabilidade: ALTA | Risco: MÉDIO (Gerenciável)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569</Words>
  <Application>Microsoft Office PowerPoint</Application>
  <PresentationFormat>Apresentação na tela (4:3)</PresentationFormat>
  <Paragraphs>96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Igor Lopes</cp:lastModifiedBy>
  <cp:revision>2</cp:revision>
  <dcterms:created xsi:type="dcterms:W3CDTF">2013-01-27T09:14:16Z</dcterms:created>
  <dcterms:modified xsi:type="dcterms:W3CDTF">2025-11-11T20:15:15Z</dcterms:modified>
  <cp:category/>
</cp:coreProperties>
</file>