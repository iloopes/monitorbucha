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Análise de Problemas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DCDCDC"/>
                </a:solidFill>
              </a:defRPr>
            </a:pPr>
            <a:r>
              <a:t>Sistema de Otimização de Manutenção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O que precisa ser corrigido para usar em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864"/>
                </a:solidFill>
              </a:defRPr>
            </a:pPr>
            <a:r>
              <a:t>89 Problemas Identificados  |  3 Níveis de Severidade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Quantos Problemas Foram Encontrados?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D32F2F"/>
                </a:solidFill>
              </a:defRPr>
            </a:pPr>
            <a:r>
              <a:t>Problemas Críticos (23)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Bloqueadores para uso em produção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  ◦ Exemplos: Sem backup, sem logging, sem validação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Problemas Altos (41)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Reduzem qualidade e segurança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  ◦ Exemplos: Zero testes, sem API, sem autenticação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388E3C"/>
                </a:solidFill>
              </a:defRPr>
            </a:pPr>
            <a:r>
              <a:t>Problemas Médios (25)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Melhorias de performance e qualidade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  ◦ Exemplos: Duplicação de código, otimizações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Problemas Críticos (Parte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1. Sem Cópia de Segurança (Backup)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salva resultados em arquivos Excel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 arquivo for deletado acidentalmente, tudo se perde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 computador quebrar, não há recuperação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Armazenar dados em banco de dados com backups automáticos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2. Sem Logging Estruturado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Quando algo quebra, impossível saber o que aconteceu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Não há registro de erros ou histórico de processamento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Implementar sistema de registro estruturado de eventos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Problemas Críticos (Parte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3. Sem Validação de Entrada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Dados ruins são aceitos sem verificação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Produzem resultados incorretos no final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Usuário não percebe, confia em números errados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Validar todos os dados antes de processar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4. Sem Type Hints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Código Python sem declaração de tipos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Difícil entender quais dados cada função espera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Erros aparecem tarde (em produção)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Adicionar type hints em 100% do código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Problemas Críticos (Parte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5. Tratamento de Erros Inadequado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Código usa 'bare except' (captura todos os erros sem tratamento)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para mas ninguém sabe por quê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Capturar apenas exceções esperadas com mensagens claras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6. Sem Persistência de Dados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Dados desaparecem quando programa fecha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Não há histórico ou auditoria de decisões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Implementar banco de dados com histórico completo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Problemas Altos (Parte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7. Zero Cobertura de Testes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Ninguém verifica se mudanças no código quebraram funcionalidades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Risco muito alto de regressões silenciosas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Implementar testes automatizados com 80%+ de cobertura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8. Sem API REST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funciona isolado, sem conectar a outros softwares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Impossível integrar com sistemas da empresa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Criar API REST profissional com autenticação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Problemas Altos (Parte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9. Sem Autenticação (Login/Senha)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Qualquer pessoa pode usar o sistema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Não há controle de acesso ou auditoria de usuários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Implementar sistema de autenticação seguro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10. Sem CI/CD Pipeline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 automação para testar e publicar código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Deploy manual, propenso a erros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Configurar pipeline de integração contínua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Problemas Altos (Parte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11. Sem Monitoramento em Produção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 sistema falhar em produção, ninguém sabe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 alertas de anomalias ou problemas de performance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Implementar Prometheus + Grafana + alertas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12. Sem Documentação Técnica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Impossível entender ou manter o código depois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Novo desenvolvedor leva semanas para produzir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Documentar arquitetura, APIs e procedimentos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Problemas Médios (Qualidade)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13. Duplicação de Código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Mesmo código aparece em múltiplos lugares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Difícil de manter, quebra em vários pontos se alterar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Refatorar para funções reutilizáveis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14. Otimizações de Performance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lento em grandes volumes de dados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Não consegue processar muitas ordens rapidamente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Profiling, indexação, caching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Resumo: Onde Estamos?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Status Atual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TRL 5 (Protótipo de Pesquisa) - 20% pronto para produção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1">
                <a:solidFill>
                  <a:srgbClr val="212121"/>
                </a:solidFill>
              </a:defRPr>
            </a:pPr>
            <a:r>
              <a:t>• Algoritmo funciona CORRETAMENTE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Fórmulas validadas scientificamente com 10+ referências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Fronteira de Pareto explorando 162 soluções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O que Falta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Estrutura de código profissional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Banco de dados persistente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API REST para integração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Testes e monitoramento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Documentação e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Analogia: Carro vs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Nosso Sistema é como um CARRO: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Motor funciona PERFEITAMENTE (o algoritmo está correto)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Mas não tem: freios, volante, vidros, portas, sem-condições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Motor rodando sozinho no chão não dá em nada útil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800"/>
              </a:spcBef>
              <a:spcAft>
                <a:spcPts val="1000"/>
              </a:spcAft>
              <a:defRPr sz="1800" b="1">
                <a:solidFill>
                  <a:srgbClr val="D32F2F"/>
                </a:solidFill>
              </a:defRPr>
            </a:pPr>
            <a:r>
              <a:t>Para usar em produção (estrada):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 de estrutura: chassi, suspensão, elétrica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 de segurança: freios, airbags, proteção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 de conforto: banco, ar condicionado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 de inspeção: documentação, testes, certificação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Conceitos Importantes (Em Termos Simples)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Type Hints</a:t>
            </a:r>
          </a:p>
          <a:p>
            <a:pPr>
              <a:spcAft>
                <a:spcPts val="600"/>
              </a:spcAft>
              <a:defRPr sz="1300" i="1">
                <a:solidFill>
                  <a:srgbClr val="646464"/>
                </a:solidFill>
              </a:defRPr>
            </a:pPr>
            <a:r>
              <a:t>→ Dizer ao computador: 'esta variável é número', 'esta é texto'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Validação</a:t>
            </a:r>
          </a:p>
          <a:p>
            <a:pPr>
              <a:spcAft>
                <a:spcPts val="600"/>
              </a:spcAft>
              <a:defRPr sz="1300" i="1">
                <a:solidFill>
                  <a:srgbClr val="646464"/>
                </a:solidFill>
              </a:defRPr>
            </a:pPr>
            <a:r>
              <a:t>→ Verificar se os dados recebidos fazem sentido antes de processar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Logging</a:t>
            </a:r>
          </a:p>
          <a:p>
            <a:pPr>
              <a:spcAft>
                <a:spcPts val="600"/>
              </a:spcAft>
              <a:defRPr sz="1300" i="1">
                <a:solidFill>
                  <a:srgbClr val="646464"/>
                </a:solidFill>
              </a:defRPr>
            </a:pPr>
            <a:r>
              <a:t>→ Anotar tudo que o sistema faz (como um diário de eventos)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Backup</a:t>
            </a:r>
          </a:p>
          <a:p>
            <a:pPr>
              <a:spcAft>
                <a:spcPts val="600"/>
              </a:spcAft>
              <a:defRPr sz="1300" i="1">
                <a:solidFill>
                  <a:srgbClr val="646464"/>
                </a:solidFill>
              </a:defRPr>
            </a:pPr>
            <a:r>
              <a:t>→ Cópia de segurança automática dos dados importante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API REST</a:t>
            </a:r>
          </a:p>
          <a:p>
            <a:pPr>
              <a:spcAft>
                <a:spcPts val="600"/>
              </a:spcAft>
              <a:defRPr sz="1300" i="1">
                <a:solidFill>
                  <a:srgbClr val="646464"/>
                </a:solidFill>
              </a:defRPr>
            </a:pPr>
            <a:r>
              <a:t>→ Jeito padrão de dois softwares conversarem pela internet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CI/CD</a:t>
            </a:r>
          </a:p>
          <a:p>
            <a:pPr>
              <a:spcAft>
                <a:spcPts val="600"/>
              </a:spcAft>
              <a:defRPr sz="1300" i="1">
                <a:solidFill>
                  <a:srgbClr val="646464"/>
                </a:solidFill>
              </a:defRPr>
            </a:pPr>
            <a:r>
              <a:t>→ Automação para testar e publicar código sem erros manuais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Se Não Corrigir: Consequências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D32F2F"/>
                </a:solidFill>
              </a:defRPr>
            </a:pPr>
            <a:r>
              <a:t>Curto Prazo (1-3 meses)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perde dados com frequência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Erros são impossíveis de debugar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Ninguém consegue integrar com outros sistemas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D32F2F"/>
                </a:solidFill>
              </a:defRPr>
            </a:pPr>
            <a:r>
              <a:t>Médio Prazo (3-12 meses)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Mudanças no código quebram funcionalidades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Ninguém confia nos resultados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Empresa não pode usar em produção oficial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D32F2F"/>
                </a:solidFill>
              </a:defRPr>
            </a:pPr>
            <a:r>
              <a:t>Longo Prazo (1+ anos)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Código fica obsoleto e impossível de manter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 ser reescrito do zero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Investimento inicial se perde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Como Resolver Esses Problemas?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Estratégia: 6 Fases em 4-6 Semanas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Semana 1: Fundação (estrutura, logging, type hints)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Semana 2-3: Testes + Banco de Dados (80% cobertura)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Semana 3: API REST (FastAPI, autenticação)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Semana 4: Deploy (Docker, CI/CD)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Semana 5: Monitoramento (Prometheus, Grafana)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Semana 6: Produção (testes finais, certificação)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Esforço Total</a:t>
            </a:r>
          </a:p>
          <a:p>
            <a:pPr>
              <a:spcBef>
                <a:spcPts val="800"/>
              </a:spcBef>
              <a:defRPr sz="1600" b="1">
                <a:solidFill>
                  <a:srgbClr val="1976D2"/>
                </a:solidFill>
              </a:defRPr>
            </a:pPr>
            <a:r>
              <a:t>240-300 horas  |  2-3 desenvolvedores  |  4-6 semanas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O Que Fazer?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1. AVALIAR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Ler relatório técnico completo (RELATORIO_TRL9_MELHORIAS.md)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Entender cada problema e sua severidade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Conversar com team técnico sobre viabilidade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2. DECIDIR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Prosseguir com implementação?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Quanto de recurso alocar? (2-3 desenvolvedores)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 SIM: partir para próximo passo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3. AGIR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Seguir roadmap estruturado (6 fases)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Implementar cada problema por severidade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Testar sempre, documentar tudo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Integração com Sistemas Existentes (Parte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Cenário Atual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Empresa tem sistema que lê dados de sensores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gera arquivos CSV com informações de equipamento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Atualmente esses dados são processados MANUALMENTE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Empresa QUER conectar nosso sistema para processar AUTOMATICAMENTE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Desafios Técnico-Administrativos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Não é tão simples quanto parece ('conectar dois sistemas')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São DOIS softwares diferentes, com estruturas diferentes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Precisam 'conversar' em linguagem que AMBOS entendem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Precisam estar em sincronismo (dados chegam, processam, retornam)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Integração com Sistemas Existentes (Parte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Problema 1: Formato de Dados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antigo salva dados em FORMATO 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Nosso sistema espera FORMATO B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 não converter, sistema quebra ou produz resultado errado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Escrever código de CONVERSÃO entre formatos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Problema 2: Campos Faltando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antigo talvez não capture TODOS os dados que precisamos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Nosso sistema precisa de 15 campos, sistema antigo tem 10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Faltam 5 campos: taxa degradação, custos, etc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Configurar sistema antigo para capturar campos faltando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Integração com Sistemas Existentes (Parte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Problema 3: Comunicação em Tempo Real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antigo libera dados QUANDO?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Nosso sistema precisa processar QUANDO?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São dois ritmos diferentes que precisam sincronizar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 não sincronizarem: dados antigos, resultados defasados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Problema 4: Erros em Cascata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 sistema antigo manda dados ERRADOS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Nosso sistema processa dados ERRADOS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Produz resultados ERRADOS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Validar dados ANTES de processar (checkpoint duplo)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Integração com Sistemas Existentes (Parte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Problema 5: Onde Moram os Dados?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antigo: dados em SERVIDOR A, PASTA B, BANCO DE DADOS C?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Nosso sistema: precisa ler de ONDE?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Não pode simplesmente 'copiar arquivo' todo dia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Solução: API ou conexão DIRETA entre sistemas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Problema 6: Quem É Responsável?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 algo der errado: QUAL sistema tem culpa?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antigo não mandou dados? Culpa dele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Nosso sistema processou errado? Culpa nossa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 de LOG DE RASTREAMENTO para saber onde quebrou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Analogia: Duas Empresas de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SISTEMA ANTIGO (Empresa A):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Responsável por COLETAR pacotes em doca de carregamento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Processa dados do sensor (localização, peso, temperatura)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800"/>
              </a:spcBef>
              <a:defRPr sz="1600" b="1">
                <a:solidFill>
                  <a:srgbClr val="1976D2"/>
                </a:solidFill>
              </a:defRPr>
            </a:pPr>
            <a:r>
              <a:t>NOSSO SISTEMA (Empresa B):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Responsável por OTIMIZAR rota de entrega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Precisa que Empresa A MANDASSE pacotes nos formatos corretos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800"/>
              </a:spcBef>
              <a:defRPr sz="1600" b="1">
                <a:solidFill>
                  <a:srgbClr val="D32F2F"/>
                </a:solidFill>
              </a:defRPr>
            </a:pPr>
            <a:r>
              <a:t>DESAFIO: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Empresa A usa formulário PAPEL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Empresa B precisa de arquivo DIGITAL</a:t>
            </a:r>
          </a:p>
          <a:p>
            <a:pPr>
              <a:spcBef>
                <a:spcPts val="800"/>
              </a:spcBef>
              <a:defRPr sz="1400" b="1" i="1">
                <a:solidFill>
                  <a:srgbClr val="D32F2F"/>
                </a:solidFill>
              </a:defRPr>
            </a:pPr>
            <a:r>
              <a:t>→ ALGUÉM PRECISA CONVERTER (contratar digitador? automatizar?)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Soluções para Integração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Opção 1: Conexão Simples (Arquivo CSV)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antigo: exporta CSV todo dia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Nosso sistema: lê CSV todo dia de pasta compartilhada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Vantagem: fácil, barato, rápido de implementar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Desvantagem: não é tempo real, pode ter erros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Opção 2: API REST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Sistema antigo: disponibiliza API (interface padrão)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Nosso sistema: chama API quando precisa de dados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Vantagem: tempo real, automático, profissional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Desvantagem: mais complicado, requer conhecimento técnico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Quanto Esforço Leva Integrar?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976D2"/>
                </a:solidFill>
              </a:defRPr>
            </a:pPr>
            <a:r>
              <a:t>Depende da qualidade do sistema antigo: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1"/>
            </a:pPr>
            <a:r>
              <a:t>Sistema antigo tem API → 50-100 horas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(Fazer conexão direta)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1"/>
            </a:pPr>
            <a:r>
              <a:t>Sistema antigo é NOVO/MODERNO → 100-150 horas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(Adaptar formatos, testes)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1"/>
            </a:pPr>
            <a:r>
              <a:t>Sistema antigo é ANTIGO (legacy) → 200-400 horas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(Pode precisar de workarounds)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1"/>
            </a:pPr>
            <a:r>
              <a:t>Ninguém sabe como funciona → IMPOSSÍVEL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(Precisa documentação especialista)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10 Perguntas Antes de Integrar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1. Sistema antigo tem DOCUMENTAÇÃO técnica?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2. Quem criou/mantém o sistema ainda trabalha aqui?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3. Sistema antigo tem API ou apenas exporta arquivo?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4. Que formatos suporta? (CSV, JSON, XML, Banco de dados)?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5. Com que frequência libera novos dados?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6. Sistema vai continuar sendo mantido/atualizado?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7. Se sistema antigo quebrar, o que acontece?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8. Quem vai monitorar a integração depois?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9. Quanto tempo leva para processar até liberar?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t>10. Trabalha 24/7 ou tem horário? (offline à noite?)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Recomendações para Integração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Antes de Começar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Consiga documentação DO SISTEMA ANTIGO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Identifique pessoa que CONHECE o sistema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Mapeie EXATAMENTE quais dados precisam viajar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Teste MANUALMENTE primeira vez (verificar funciona)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Durante Implementação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Comece com integrações SIMPLES (arquivo/CSV)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Depois evoluir para API se necessário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Sempre VALIDAR dados no ponto de chegada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t>• Manter LOG de tudo que passa entre sistemas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Tempo Total: Nosso Sistema + Integração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976D2"/>
                </a:solidFill>
              </a:defRPr>
            </a:pPr>
            <a:r>
              <a:t>Nosso sistema (SEM integração):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400"/>
            </a:pPr>
            <a:r>
              <a:t>240-300 horas (4-6 semanas, 2-3 desenvolvedores)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600" b="1">
                <a:solidFill>
                  <a:srgbClr val="1976D2"/>
                </a:solidFill>
              </a:defRPr>
            </a:pPr>
            <a:r>
              <a:t>Integração COM sistema antigo:</a:t>
            </a:r>
          </a:p>
          <a:p>
            <a:pPr>
              <a:spcBef>
                <a:spcPts val="600"/>
              </a:spcBef>
              <a:defRPr sz="1300" b="1"/>
            </a:pPr>
            <a:r>
              <a:t>Cenário OTIMISTA: 50-100 horas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i="1">
                <a:solidFill>
                  <a:srgbClr val="646464"/>
                </a:solidFill>
              </a:defRPr>
            </a:pPr>
            <a:r>
              <a:t>(Sistema antigo moderno, com API)</a:t>
            </a:r>
          </a:p>
          <a:p>
            <a:pPr>
              <a:spcBef>
                <a:spcPts val="600"/>
              </a:spcBef>
              <a:defRPr sz="1300" b="1"/>
            </a:pPr>
            <a:r>
              <a:t>Cenário INTERMEDIÁRIO: 100-200 horas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i="1">
                <a:solidFill>
                  <a:srgbClr val="646464"/>
                </a:solidFill>
              </a:defRPr>
            </a:pPr>
            <a:r>
              <a:t>(Sistema antigo precisa adaptações)</a:t>
            </a:r>
          </a:p>
          <a:p>
            <a:pPr>
              <a:spcBef>
                <a:spcPts val="600"/>
              </a:spcBef>
              <a:defRPr sz="1300" b="1"/>
            </a:pPr>
            <a:r>
              <a:t>Cenário PESSIMISTA: 300-500 horas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i="1">
                <a:solidFill>
                  <a:srgbClr val="646464"/>
                </a:solidFill>
              </a:defRPr>
            </a:pPr>
            <a:r>
              <a:t>(Sistema antigo é muito antigo/complicado)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800"/>
              </a:spcBef>
              <a:defRPr sz="1600" b="1">
                <a:solidFill>
                  <a:srgbClr val="D32F2F"/>
                </a:solidFill>
              </a:defRPr>
            </a:pPr>
            <a:r>
              <a:t>TOTAL ESTIMADO: 290-800 horas (1-2 meses ou mais)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8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Resumo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864"/>
                </a:solidFill>
              </a:defRPr>
            </a:pPr>
            <a:r>
              <a:t>89 Problemas Identificados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SIM, TODOS são corrigíveis com a equipe e tempo corretos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Algoritmo: CORRETO com Resultados BONS</a:t>
            </a:r>
          </a:p>
          <a:p>
            <a:pPr>
              <a:spcAft>
                <a:spcPts val="1200"/>
              </a:spcAft>
              <a:defRPr sz="1400">
                <a:solidFill>
                  <a:srgbClr val="DCDCDC"/>
                </a:solidFill>
              </a:defRPr>
            </a:pPr>
            <a:r>
              <a:t>Validado cientificamente, fronteira de Pareto explorando 162 soluções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 b="1">
                <a:solidFill>
                  <a:srgbClr val="FFC864"/>
                </a:solidFill>
              </a:defRPr>
            </a:pPr>
            <a:r>
              <a:t>Integração com Sistema Antigo: COMPLICADA, +50-500 Horas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t>Essencial: Documentar sistema antigo ANTES de começar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